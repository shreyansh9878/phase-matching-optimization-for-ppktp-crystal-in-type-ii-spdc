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8" r:id="rId2"/>
  </p:sldIdLst>
  <p:sldSz cx="30264100" cy="42799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80"/>
    <a:srgbClr val="CCFFFF"/>
    <a:srgbClr val="66CCFF"/>
    <a:srgbClr val="FFBE5E"/>
    <a:srgbClr val="3B2281"/>
    <a:srgbClr val="561269"/>
    <a:srgbClr val="3A025B"/>
    <a:srgbClr val="220135"/>
    <a:srgbClr val="1A0129"/>
    <a:srgbClr val="1100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33" d="100"/>
          <a:sy n="33" d="100"/>
        </p:scale>
        <p:origin x="50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5C590A-9A22-4351-B645-C92E84D7CDB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84CE4-8D89-4E2C-AF8A-20C3C3F1B7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82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84CE4-8D89-4E2C-AF8A-20C3C3F1B71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5268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9808" y="7004376"/>
            <a:ext cx="25724485" cy="14900393"/>
          </a:xfrm>
        </p:spPr>
        <p:txBody>
          <a:bodyPr anchor="b"/>
          <a:lstStyle>
            <a:lvl1pPr algn="ctr">
              <a:defRPr sz="198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3013" y="22479385"/>
            <a:ext cx="22698075" cy="10333181"/>
          </a:xfrm>
        </p:spPr>
        <p:txBody>
          <a:bodyPr/>
          <a:lstStyle>
            <a:lvl1pPr marL="0" indent="0" algn="ctr">
              <a:buNone/>
              <a:defRPr sz="7943"/>
            </a:lvl1pPr>
            <a:lvl2pPr marL="1513195" indent="0" algn="ctr">
              <a:buNone/>
              <a:defRPr sz="6619"/>
            </a:lvl2pPr>
            <a:lvl3pPr marL="3026390" indent="0" algn="ctr">
              <a:buNone/>
              <a:defRPr sz="5957"/>
            </a:lvl3pPr>
            <a:lvl4pPr marL="4539585" indent="0" algn="ctr">
              <a:buNone/>
              <a:defRPr sz="5296"/>
            </a:lvl4pPr>
            <a:lvl5pPr marL="6052779" indent="0" algn="ctr">
              <a:buNone/>
              <a:defRPr sz="5296"/>
            </a:lvl5pPr>
            <a:lvl6pPr marL="7565974" indent="0" algn="ctr">
              <a:buNone/>
              <a:defRPr sz="5296"/>
            </a:lvl6pPr>
            <a:lvl7pPr marL="9079169" indent="0" algn="ctr">
              <a:buNone/>
              <a:defRPr sz="5296"/>
            </a:lvl7pPr>
            <a:lvl8pPr marL="10592364" indent="0" algn="ctr">
              <a:buNone/>
              <a:defRPr sz="5296"/>
            </a:lvl8pPr>
            <a:lvl9pPr marL="12105559" indent="0" algn="ctr">
              <a:buNone/>
              <a:defRPr sz="529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3F08B-3BD7-48C2-8FF1-AFE31F335C2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FCB3A-7B68-4FF7-9331-BE5D77047C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228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3F08B-3BD7-48C2-8FF1-AFE31F335C2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FCB3A-7B68-4FF7-9331-BE5D77047C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791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4896" y="10670041"/>
            <a:ext cx="26102786" cy="17803192"/>
          </a:xfrm>
        </p:spPr>
        <p:txBody>
          <a:bodyPr anchor="b"/>
          <a:lstStyle>
            <a:lvl1pPr>
              <a:defRPr sz="198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4896" y="28641658"/>
            <a:ext cx="26102786" cy="9362278"/>
          </a:xfrm>
        </p:spPr>
        <p:txBody>
          <a:bodyPr/>
          <a:lstStyle>
            <a:lvl1pPr marL="0" indent="0">
              <a:buNone/>
              <a:defRPr sz="7943">
                <a:solidFill>
                  <a:schemeClr val="tx1">
                    <a:tint val="82000"/>
                  </a:schemeClr>
                </a:solidFill>
              </a:defRPr>
            </a:lvl1pPr>
            <a:lvl2pPr marL="1513195" indent="0">
              <a:buNone/>
              <a:defRPr sz="6619">
                <a:solidFill>
                  <a:schemeClr val="tx1">
                    <a:tint val="82000"/>
                  </a:schemeClr>
                </a:solidFill>
              </a:defRPr>
            </a:lvl2pPr>
            <a:lvl3pPr marL="3026390" indent="0">
              <a:buNone/>
              <a:defRPr sz="5957">
                <a:solidFill>
                  <a:schemeClr val="tx1">
                    <a:tint val="82000"/>
                  </a:schemeClr>
                </a:solidFill>
              </a:defRPr>
            </a:lvl3pPr>
            <a:lvl4pPr marL="4539585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4pPr>
            <a:lvl5pPr marL="6052779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5pPr>
            <a:lvl6pPr marL="7565974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6pPr>
            <a:lvl7pPr marL="9079169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7pPr>
            <a:lvl8pPr marL="10592364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8pPr>
            <a:lvl9pPr marL="12105559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3F08B-3BD7-48C2-8FF1-AFE31F335C2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FCB3A-7B68-4FF7-9331-BE5D77047C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987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0657" y="11393252"/>
            <a:ext cx="12862243" cy="27155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1200" y="11393252"/>
            <a:ext cx="12862243" cy="27155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3F08B-3BD7-48C2-8FF1-AFE31F335C2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FCB3A-7B68-4FF7-9331-BE5D77047C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5099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599" y="2278660"/>
            <a:ext cx="26102786" cy="82724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4602" y="10491703"/>
            <a:ext cx="12803131" cy="5141821"/>
          </a:xfrm>
        </p:spPr>
        <p:txBody>
          <a:bodyPr anchor="b"/>
          <a:lstStyle>
            <a:lvl1pPr marL="0" indent="0">
              <a:buNone/>
              <a:defRPr sz="7943" b="1"/>
            </a:lvl1pPr>
            <a:lvl2pPr marL="1513195" indent="0">
              <a:buNone/>
              <a:defRPr sz="6619" b="1"/>
            </a:lvl2pPr>
            <a:lvl3pPr marL="3026390" indent="0">
              <a:buNone/>
              <a:defRPr sz="5957" b="1"/>
            </a:lvl3pPr>
            <a:lvl4pPr marL="4539585" indent="0">
              <a:buNone/>
              <a:defRPr sz="5296" b="1"/>
            </a:lvl4pPr>
            <a:lvl5pPr marL="6052779" indent="0">
              <a:buNone/>
              <a:defRPr sz="5296" b="1"/>
            </a:lvl5pPr>
            <a:lvl6pPr marL="7565974" indent="0">
              <a:buNone/>
              <a:defRPr sz="5296" b="1"/>
            </a:lvl6pPr>
            <a:lvl7pPr marL="9079169" indent="0">
              <a:buNone/>
              <a:defRPr sz="5296" b="1"/>
            </a:lvl7pPr>
            <a:lvl8pPr marL="10592364" indent="0">
              <a:buNone/>
              <a:defRPr sz="5296" b="1"/>
            </a:lvl8pPr>
            <a:lvl9pPr marL="12105559" indent="0">
              <a:buNone/>
              <a:defRPr sz="5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4602" y="15633524"/>
            <a:ext cx="12803131" cy="229945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1202" y="10491703"/>
            <a:ext cx="12866184" cy="5141821"/>
          </a:xfrm>
        </p:spPr>
        <p:txBody>
          <a:bodyPr anchor="b"/>
          <a:lstStyle>
            <a:lvl1pPr marL="0" indent="0">
              <a:buNone/>
              <a:defRPr sz="7943" b="1"/>
            </a:lvl1pPr>
            <a:lvl2pPr marL="1513195" indent="0">
              <a:buNone/>
              <a:defRPr sz="6619" b="1"/>
            </a:lvl2pPr>
            <a:lvl3pPr marL="3026390" indent="0">
              <a:buNone/>
              <a:defRPr sz="5957" b="1"/>
            </a:lvl3pPr>
            <a:lvl4pPr marL="4539585" indent="0">
              <a:buNone/>
              <a:defRPr sz="5296" b="1"/>
            </a:lvl4pPr>
            <a:lvl5pPr marL="6052779" indent="0">
              <a:buNone/>
              <a:defRPr sz="5296" b="1"/>
            </a:lvl5pPr>
            <a:lvl6pPr marL="7565974" indent="0">
              <a:buNone/>
              <a:defRPr sz="5296" b="1"/>
            </a:lvl6pPr>
            <a:lvl7pPr marL="9079169" indent="0">
              <a:buNone/>
              <a:defRPr sz="5296" b="1"/>
            </a:lvl7pPr>
            <a:lvl8pPr marL="10592364" indent="0">
              <a:buNone/>
              <a:defRPr sz="5296" b="1"/>
            </a:lvl8pPr>
            <a:lvl9pPr marL="12105559" indent="0">
              <a:buNone/>
              <a:defRPr sz="5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1202" y="15633524"/>
            <a:ext cx="12866184" cy="229945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3F08B-3BD7-48C2-8FF1-AFE31F335C2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FCB3A-7B68-4FF7-9331-BE5D77047C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222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3F08B-3BD7-48C2-8FF1-AFE31F335C2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FCB3A-7B68-4FF7-9331-BE5D77047C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281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3F08B-3BD7-48C2-8FF1-AFE31F335C2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FCB3A-7B68-4FF7-9331-BE5D77047C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63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599" y="2853267"/>
            <a:ext cx="9760960" cy="9986433"/>
          </a:xfrm>
        </p:spPr>
        <p:txBody>
          <a:bodyPr anchor="b"/>
          <a:lstStyle>
            <a:lvl1pPr>
              <a:defRPr sz="105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6184" y="6162273"/>
            <a:ext cx="15321201" cy="30415030"/>
          </a:xfrm>
        </p:spPr>
        <p:txBody>
          <a:bodyPr/>
          <a:lstStyle>
            <a:lvl1pPr>
              <a:defRPr sz="10591"/>
            </a:lvl1pPr>
            <a:lvl2pPr>
              <a:defRPr sz="9267"/>
            </a:lvl2pPr>
            <a:lvl3pPr>
              <a:defRPr sz="7943"/>
            </a:lvl3pPr>
            <a:lvl4pPr>
              <a:defRPr sz="6619"/>
            </a:lvl4pPr>
            <a:lvl5pPr>
              <a:defRPr sz="6619"/>
            </a:lvl5pPr>
            <a:lvl6pPr>
              <a:defRPr sz="6619"/>
            </a:lvl6pPr>
            <a:lvl7pPr>
              <a:defRPr sz="6619"/>
            </a:lvl7pPr>
            <a:lvl8pPr>
              <a:defRPr sz="6619"/>
            </a:lvl8pPr>
            <a:lvl9pPr>
              <a:defRPr sz="661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599" y="12839700"/>
            <a:ext cx="9760960" cy="23787133"/>
          </a:xfrm>
        </p:spPr>
        <p:txBody>
          <a:bodyPr/>
          <a:lstStyle>
            <a:lvl1pPr marL="0" indent="0">
              <a:buNone/>
              <a:defRPr sz="5296"/>
            </a:lvl1pPr>
            <a:lvl2pPr marL="1513195" indent="0">
              <a:buNone/>
              <a:defRPr sz="4634"/>
            </a:lvl2pPr>
            <a:lvl3pPr marL="3026390" indent="0">
              <a:buNone/>
              <a:defRPr sz="3972"/>
            </a:lvl3pPr>
            <a:lvl4pPr marL="4539585" indent="0">
              <a:buNone/>
              <a:defRPr sz="3310"/>
            </a:lvl4pPr>
            <a:lvl5pPr marL="6052779" indent="0">
              <a:buNone/>
              <a:defRPr sz="3310"/>
            </a:lvl5pPr>
            <a:lvl6pPr marL="7565974" indent="0">
              <a:buNone/>
              <a:defRPr sz="3310"/>
            </a:lvl6pPr>
            <a:lvl7pPr marL="9079169" indent="0">
              <a:buNone/>
              <a:defRPr sz="3310"/>
            </a:lvl7pPr>
            <a:lvl8pPr marL="10592364" indent="0">
              <a:buNone/>
              <a:defRPr sz="3310"/>
            </a:lvl8pPr>
            <a:lvl9pPr marL="12105559" indent="0">
              <a:buNone/>
              <a:defRPr sz="33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3F08B-3BD7-48C2-8FF1-AFE31F335C2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FCB3A-7B68-4FF7-9331-BE5D77047C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01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599" y="2853267"/>
            <a:ext cx="9760960" cy="9986433"/>
          </a:xfrm>
        </p:spPr>
        <p:txBody>
          <a:bodyPr anchor="b"/>
          <a:lstStyle>
            <a:lvl1pPr>
              <a:defRPr sz="105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66184" y="6162273"/>
            <a:ext cx="15321201" cy="30415030"/>
          </a:xfrm>
        </p:spPr>
        <p:txBody>
          <a:bodyPr anchor="t"/>
          <a:lstStyle>
            <a:lvl1pPr marL="0" indent="0">
              <a:buNone/>
              <a:defRPr sz="10591"/>
            </a:lvl1pPr>
            <a:lvl2pPr marL="1513195" indent="0">
              <a:buNone/>
              <a:defRPr sz="9267"/>
            </a:lvl2pPr>
            <a:lvl3pPr marL="3026390" indent="0">
              <a:buNone/>
              <a:defRPr sz="7943"/>
            </a:lvl3pPr>
            <a:lvl4pPr marL="4539585" indent="0">
              <a:buNone/>
              <a:defRPr sz="6619"/>
            </a:lvl4pPr>
            <a:lvl5pPr marL="6052779" indent="0">
              <a:buNone/>
              <a:defRPr sz="6619"/>
            </a:lvl5pPr>
            <a:lvl6pPr marL="7565974" indent="0">
              <a:buNone/>
              <a:defRPr sz="6619"/>
            </a:lvl6pPr>
            <a:lvl7pPr marL="9079169" indent="0">
              <a:buNone/>
              <a:defRPr sz="6619"/>
            </a:lvl7pPr>
            <a:lvl8pPr marL="10592364" indent="0">
              <a:buNone/>
              <a:defRPr sz="6619"/>
            </a:lvl8pPr>
            <a:lvl9pPr marL="12105559" indent="0">
              <a:buNone/>
              <a:defRPr sz="661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599" y="12839700"/>
            <a:ext cx="9760960" cy="23787133"/>
          </a:xfrm>
        </p:spPr>
        <p:txBody>
          <a:bodyPr/>
          <a:lstStyle>
            <a:lvl1pPr marL="0" indent="0">
              <a:buNone/>
              <a:defRPr sz="5296"/>
            </a:lvl1pPr>
            <a:lvl2pPr marL="1513195" indent="0">
              <a:buNone/>
              <a:defRPr sz="4634"/>
            </a:lvl2pPr>
            <a:lvl3pPr marL="3026390" indent="0">
              <a:buNone/>
              <a:defRPr sz="3972"/>
            </a:lvl3pPr>
            <a:lvl4pPr marL="4539585" indent="0">
              <a:buNone/>
              <a:defRPr sz="3310"/>
            </a:lvl4pPr>
            <a:lvl5pPr marL="6052779" indent="0">
              <a:buNone/>
              <a:defRPr sz="3310"/>
            </a:lvl5pPr>
            <a:lvl6pPr marL="7565974" indent="0">
              <a:buNone/>
              <a:defRPr sz="3310"/>
            </a:lvl6pPr>
            <a:lvl7pPr marL="9079169" indent="0">
              <a:buNone/>
              <a:defRPr sz="3310"/>
            </a:lvl7pPr>
            <a:lvl8pPr marL="10592364" indent="0">
              <a:buNone/>
              <a:defRPr sz="3310"/>
            </a:lvl8pPr>
            <a:lvl9pPr marL="12105559" indent="0">
              <a:buNone/>
              <a:defRPr sz="33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3F08B-3BD7-48C2-8FF1-AFE31F335C2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FCB3A-7B68-4FF7-9331-BE5D77047C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761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3F08B-3BD7-48C2-8FF1-AFE31F335C2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FCB3A-7B68-4FF7-9331-BE5D77047C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956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57748" y="2278651"/>
            <a:ext cx="6525697" cy="3627017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0659" y="2278651"/>
            <a:ext cx="19198788" cy="3627017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3F08B-3BD7-48C2-8FF1-AFE31F335C2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FCB3A-7B68-4FF7-9331-BE5D77047C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238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0657" y="2278660"/>
            <a:ext cx="26102786" cy="8272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0657" y="11393252"/>
            <a:ext cx="26102786" cy="271555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0657" y="39668342"/>
            <a:ext cx="6809423" cy="2278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83F08B-3BD7-48C2-8FF1-AFE31F335C2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4983" y="39668342"/>
            <a:ext cx="10214134" cy="2278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74020" y="39668342"/>
            <a:ext cx="6809423" cy="2278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0FCB3A-7B68-4FF7-9331-BE5D77047C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067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026390" rtl="0" eaLnBrk="1" latinLnBrk="0" hangingPunct="1">
        <a:lnSpc>
          <a:spcPct val="90000"/>
        </a:lnSpc>
        <a:spcBef>
          <a:spcPct val="0"/>
        </a:spcBef>
        <a:buNone/>
        <a:defRPr sz="145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597" indent="-756597" algn="l" defTabSz="3026390" rtl="0" eaLnBrk="1" latinLnBrk="0" hangingPunct="1">
        <a:lnSpc>
          <a:spcPct val="90000"/>
        </a:lnSpc>
        <a:spcBef>
          <a:spcPts val="3310"/>
        </a:spcBef>
        <a:buFont typeface="Arial" panose="020B0604020202020204" pitchFamily="34" charset="0"/>
        <a:buChar char="•"/>
        <a:defRPr sz="9267" kern="1200">
          <a:solidFill>
            <a:schemeClr val="tx1"/>
          </a:solidFill>
          <a:latin typeface="+mn-lt"/>
          <a:ea typeface="+mn-ea"/>
          <a:cs typeface="+mn-cs"/>
        </a:defRPr>
      </a:lvl1pPr>
      <a:lvl2pPr marL="2269792" indent="-756597" algn="l" defTabSz="302639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3" kern="1200">
          <a:solidFill>
            <a:schemeClr val="tx1"/>
          </a:solidFill>
          <a:latin typeface="+mn-lt"/>
          <a:ea typeface="+mn-ea"/>
          <a:cs typeface="+mn-cs"/>
        </a:defRPr>
      </a:lvl2pPr>
      <a:lvl3pPr marL="3782987" indent="-756597" algn="l" defTabSz="302639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19" kern="1200">
          <a:solidFill>
            <a:schemeClr val="tx1"/>
          </a:solidFill>
          <a:latin typeface="+mn-lt"/>
          <a:ea typeface="+mn-ea"/>
          <a:cs typeface="+mn-cs"/>
        </a:defRPr>
      </a:lvl3pPr>
      <a:lvl4pPr marL="5296182" indent="-756597" algn="l" defTabSz="302639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7" kern="1200">
          <a:solidFill>
            <a:schemeClr val="tx1"/>
          </a:solidFill>
          <a:latin typeface="+mn-lt"/>
          <a:ea typeface="+mn-ea"/>
          <a:cs typeface="+mn-cs"/>
        </a:defRPr>
      </a:lvl4pPr>
      <a:lvl5pPr marL="6809377" indent="-756597" algn="l" defTabSz="302639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7" kern="1200">
          <a:solidFill>
            <a:schemeClr val="tx1"/>
          </a:solidFill>
          <a:latin typeface="+mn-lt"/>
          <a:ea typeface="+mn-ea"/>
          <a:cs typeface="+mn-cs"/>
        </a:defRPr>
      </a:lvl5pPr>
      <a:lvl6pPr marL="8322572" indent="-756597" algn="l" defTabSz="302639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7" kern="1200">
          <a:solidFill>
            <a:schemeClr val="tx1"/>
          </a:solidFill>
          <a:latin typeface="+mn-lt"/>
          <a:ea typeface="+mn-ea"/>
          <a:cs typeface="+mn-cs"/>
        </a:defRPr>
      </a:lvl6pPr>
      <a:lvl7pPr marL="9835766" indent="-756597" algn="l" defTabSz="302639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7" kern="1200">
          <a:solidFill>
            <a:schemeClr val="tx1"/>
          </a:solidFill>
          <a:latin typeface="+mn-lt"/>
          <a:ea typeface="+mn-ea"/>
          <a:cs typeface="+mn-cs"/>
        </a:defRPr>
      </a:lvl7pPr>
      <a:lvl8pPr marL="11348961" indent="-756597" algn="l" defTabSz="302639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7" kern="1200">
          <a:solidFill>
            <a:schemeClr val="tx1"/>
          </a:solidFill>
          <a:latin typeface="+mn-lt"/>
          <a:ea typeface="+mn-ea"/>
          <a:cs typeface="+mn-cs"/>
        </a:defRPr>
      </a:lvl8pPr>
      <a:lvl9pPr marL="12862156" indent="-756597" algn="l" defTabSz="302639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6390" rtl="0" eaLnBrk="1" latinLnBrk="0" hangingPunct="1">
        <a:defRPr sz="5957" kern="1200">
          <a:solidFill>
            <a:schemeClr val="tx1"/>
          </a:solidFill>
          <a:latin typeface="+mn-lt"/>
          <a:ea typeface="+mn-ea"/>
          <a:cs typeface="+mn-cs"/>
        </a:defRPr>
      </a:lvl1pPr>
      <a:lvl2pPr marL="1513195" algn="l" defTabSz="3026390" rtl="0" eaLnBrk="1" latinLnBrk="0" hangingPunct="1">
        <a:defRPr sz="5957" kern="1200">
          <a:solidFill>
            <a:schemeClr val="tx1"/>
          </a:solidFill>
          <a:latin typeface="+mn-lt"/>
          <a:ea typeface="+mn-ea"/>
          <a:cs typeface="+mn-cs"/>
        </a:defRPr>
      </a:lvl2pPr>
      <a:lvl3pPr marL="3026390" algn="l" defTabSz="3026390" rtl="0" eaLnBrk="1" latinLnBrk="0" hangingPunct="1">
        <a:defRPr sz="5957" kern="1200">
          <a:solidFill>
            <a:schemeClr val="tx1"/>
          </a:solidFill>
          <a:latin typeface="+mn-lt"/>
          <a:ea typeface="+mn-ea"/>
          <a:cs typeface="+mn-cs"/>
        </a:defRPr>
      </a:lvl3pPr>
      <a:lvl4pPr marL="4539585" algn="l" defTabSz="3026390" rtl="0" eaLnBrk="1" latinLnBrk="0" hangingPunct="1">
        <a:defRPr sz="5957" kern="1200">
          <a:solidFill>
            <a:schemeClr val="tx1"/>
          </a:solidFill>
          <a:latin typeface="+mn-lt"/>
          <a:ea typeface="+mn-ea"/>
          <a:cs typeface="+mn-cs"/>
        </a:defRPr>
      </a:lvl4pPr>
      <a:lvl5pPr marL="6052779" algn="l" defTabSz="3026390" rtl="0" eaLnBrk="1" latinLnBrk="0" hangingPunct="1">
        <a:defRPr sz="5957" kern="1200">
          <a:solidFill>
            <a:schemeClr val="tx1"/>
          </a:solidFill>
          <a:latin typeface="+mn-lt"/>
          <a:ea typeface="+mn-ea"/>
          <a:cs typeface="+mn-cs"/>
        </a:defRPr>
      </a:lvl5pPr>
      <a:lvl6pPr marL="7565974" algn="l" defTabSz="3026390" rtl="0" eaLnBrk="1" latinLnBrk="0" hangingPunct="1">
        <a:defRPr sz="5957" kern="1200">
          <a:solidFill>
            <a:schemeClr val="tx1"/>
          </a:solidFill>
          <a:latin typeface="+mn-lt"/>
          <a:ea typeface="+mn-ea"/>
          <a:cs typeface="+mn-cs"/>
        </a:defRPr>
      </a:lvl6pPr>
      <a:lvl7pPr marL="9079169" algn="l" defTabSz="3026390" rtl="0" eaLnBrk="1" latinLnBrk="0" hangingPunct="1">
        <a:defRPr sz="5957" kern="1200">
          <a:solidFill>
            <a:schemeClr val="tx1"/>
          </a:solidFill>
          <a:latin typeface="+mn-lt"/>
          <a:ea typeface="+mn-ea"/>
          <a:cs typeface="+mn-cs"/>
        </a:defRPr>
      </a:lvl7pPr>
      <a:lvl8pPr marL="10592364" algn="l" defTabSz="3026390" rtl="0" eaLnBrk="1" latinLnBrk="0" hangingPunct="1">
        <a:defRPr sz="5957" kern="1200">
          <a:solidFill>
            <a:schemeClr val="tx1"/>
          </a:solidFill>
          <a:latin typeface="+mn-lt"/>
          <a:ea typeface="+mn-ea"/>
          <a:cs typeface="+mn-cs"/>
        </a:defRPr>
      </a:lvl8pPr>
      <a:lvl9pPr marL="12105559" algn="l" defTabSz="3026390" rtl="0" eaLnBrk="1" latinLnBrk="0" hangingPunct="1">
        <a:defRPr sz="59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jpeg"/><Relationship Id="rId3" Type="http://schemas.openxmlformats.org/officeDocument/2006/relationships/image" Target="../media/image1.png"/><Relationship Id="rId7" Type="http://schemas.openxmlformats.org/officeDocument/2006/relationships/image" Target="../media/image3.jp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image" Target="../media/image2.jp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D50926-8E8F-ED6E-A336-EEF2B7E72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F01E9216-0230-B646-0C52-AC8D8AB258DD}"/>
              </a:ext>
            </a:extLst>
          </p:cNvPr>
          <p:cNvSpPr/>
          <p:nvPr/>
        </p:nvSpPr>
        <p:spPr>
          <a:xfrm>
            <a:off x="-21771" y="-21771"/>
            <a:ext cx="30264100" cy="8583278"/>
          </a:xfrm>
          <a:prstGeom prst="rect">
            <a:avLst/>
          </a:prstGeom>
          <a:solidFill>
            <a:srgbClr val="CCFFFF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8343DC9-DB27-8413-F7B8-D687268E6785}"/>
              </a:ext>
            </a:extLst>
          </p:cNvPr>
          <p:cNvGrpSpPr/>
          <p:nvPr/>
        </p:nvGrpSpPr>
        <p:grpSpPr>
          <a:xfrm>
            <a:off x="3945190" y="4845880"/>
            <a:ext cx="25786824" cy="3305435"/>
            <a:chOff x="4477276" y="5077823"/>
            <a:chExt cx="25786824" cy="3305435"/>
          </a:xfrm>
        </p:grpSpPr>
        <p:sp>
          <p:nvSpPr>
            <p:cNvPr id="12" name="TextBox 72">
              <a:extLst>
                <a:ext uri="{FF2B5EF4-FFF2-40B4-BE49-F238E27FC236}">
                  <a16:creationId xmlns:a16="http://schemas.microsoft.com/office/drawing/2014/main" id="{59DD5B01-D0EA-DB27-4306-8BE823341F97}"/>
                </a:ext>
              </a:extLst>
            </p:cNvPr>
            <p:cNvSpPr txBox="1"/>
            <p:nvPr/>
          </p:nvSpPr>
          <p:spPr>
            <a:xfrm>
              <a:off x="4484910" y="5077823"/>
              <a:ext cx="25779190" cy="7386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en-US" sz="4800" b="1" u="sng" dirty="0">
                  <a:latin typeface="Times New Roman" panose="02020603050405020304" pitchFamily="18" charset="0"/>
                  <a:ea typeface="Roboto" panose="02000000000000000000" pitchFamily="2" charset="0"/>
                  <a:cs typeface="Times New Roman" panose="02020603050405020304" pitchFamily="18" charset="0"/>
                </a:rPr>
                <a:t>Shreyansh Agarwal</a:t>
              </a:r>
              <a:r>
                <a:rPr lang="en-US" sz="4800" dirty="0">
                  <a:latin typeface="Times New Roman" panose="02020603050405020304" pitchFamily="18" charset="0"/>
                  <a:ea typeface="Roboto" panose="02000000000000000000" pitchFamily="2" charset="0"/>
                  <a:cs typeface="Times New Roman" panose="02020603050405020304" pitchFamily="18" charset="0"/>
                </a:rPr>
                <a:t>,</a:t>
              </a:r>
              <a:r>
                <a:rPr lang="en-US" sz="4800" baseline="30000" dirty="0">
                  <a:latin typeface="Times New Roman" panose="02020603050405020304" pitchFamily="18" charset="0"/>
                  <a:ea typeface="Roboto" panose="02000000000000000000" pitchFamily="2" charset="0"/>
                  <a:cs typeface="Times New Roman" panose="02020603050405020304" pitchFamily="18" charset="0"/>
                </a:rPr>
                <a:t>1,*</a:t>
              </a:r>
              <a:r>
                <a:rPr lang="en-US" sz="4800" b="1" dirty="0">
                  <a:latin typeface="Times New Roman" panose="02020603050405020304" pitchFamily="18" charset="0"/>
                  <a:ea typeface="Roboto" panose="02000000000000000000" pitchFamily="2" charset="0"/>
                  <a:cs typeface="Times New Roman" panose="02020603050405020304" pitchFamily="18" charset="0"/>
                </a:rPr>
                <a:t> </a:t>
              </a:r>
              <a:r>
                <a:rPr lang="en-US" sz="4800" dirty="0">
                  <a:latin typeface="Times New Roman" panose="02020603050405020304" pitchFamily="18" charset="0"/>
                  <a:ea typeface="Roboto" panose="02000000000000000000" pitchFamily="2" charset="0"/>
                  <a:cs typeface="Times New Roman" panose="02020603050405020304" pitchFamily="18" charset="0"/>
                </a:rPr>
                <a:t>Tomis Prajapati,</a:t>
              </a:r>
              <a:r>
                <a:rPr lang="en-US" sz="4800" baseline="30000" dirty="0">
                  <a:latin typeface="Times New Roman" panose="02020603050405020304" pitchFamily="18" charset="0"/>
                  <a:ea typeface="Roboto" panose="02000000000000000000" pitchFamily="2" charset="0"/>
                  <a:cs typeface="Times New Roman" panose="02020603050405020304" pitchFamily="18" charset="0"/>
                </a:rPr>
                <a:t>1,</a:t>
              </a:r>
              <a:r>
                <a:rPr lang="en-IN" sz="4800" baseline="30000" dirty="0"/>
                <a:t>†</a:t>
              </a:r>
              <a:r>
                <a:rPr lang="en-IN" sz="4800" dirty="0"/>
                <a:t> a</a:t>
              </a:r>
              <a:r>
                <a:rPr lang="en-US" sz="4800" dirty="0" err="1">
                  <a:latin typeface="Times New Roman" panose="02020603050405020304" pitchFamily="18" charset="0"/>
                  <a:ea typeface="Roboto" panose="02000000000000000000" pitchFamily="2" charset="0"/>
                  <a:cs typeface="Times New Roman" panose="02020603050405020304" pitchFamily="18" charset="0"/>
                </a:rPr>
                <a:t>nd</a:t>
              </a:r>
              <a:r>
                <a:rPr lang="en-US" sz="4800" dirty="0">
                  <a:latin typeface="Times New Roman" panose="02020603050405020304" pitchFamily="18" charset="0"/>
                  <a:ea typeface="Roboto" panose="02000000000000000000" pitchFamily="2" charset="0"/>
                  <a:cs typeface="Times New Roman" panose="02020603050405020304" pitchFamily="18" charset="0"/>
                </a:rPr>
                <a:t> V. Narayanan</a:t>
              </a:r>
              <a:r>
                <a:rPr lang="en-US" sz="4800" baseline="30000" dirty="0">
                  <a:latin typeface="Times New Roman" panose="02020603050405020304" pitchFamily="18" charset="0"/>
                  <a:ea typeface="Roboto" panose="02000000000000000000" pitchFamily="2" charset="0"/>
                  <a:cs typeface="Times New Roman" panose="02020603050405020304" pitchFamily="18" charset="0"/>
                </a:rPr>
                <a:t>1,2</a:t>
              </a:r>
              <a:endParaRPr lang="en-US" sz="48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73">
              <a:extLst>
                <a:ext uri="{FF2B5EF4-FFF2-40B4-BE49-F238E27FC236}">
                  <a16:creationId xmlns:a16="http://schemas.microsoft.com/office/drawing/2014/main" id="{A57AE13E-9E0E-E6E3-1538-D9B1BB2F6D82}"/>
                </a:ext>
              </a:extLst>
            </p:cNvPr>
            <p:cNvSpPr txBox="1"/>
            <p:nvPr/>
          </p:nvSpPr>
          <p:spPr>
            <a:xfrm>
              <a:off x="4477276" y="6126230"/>
              <a:ext cx="25034538" cy="225702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4000" i="1" baseline="30000" dirty="0">
                  <a:latin typeface="Times New Roman" panose="02020603050405020304" pitchFamily="18" charset="0"/>
                  <a:ea typeface="Roboto" panose="02000000000000000000" pitchFamily="2" charset="0"/>
                  <a:cs typeface="Times New Roman" panose="02020603050405020304" pitchFamily="18" charset="0"/>
                </a:rPr>
                <a:t>1,</a:t>
              </a:r>
              <a:r>
                <a:rPr lang="en-US" sz="4000" i="1" dirty="0">
                  <a:latin typeface="Times New Roman" panose="02020603050405020304" pitchFamily="18" charset="0"/>
                  <a:ea typeface="Roboto" panose="02000000000000000000" pitchFamily="2" charset="0"/>
                  <a:cs typeface="Times New Roman" panose="02020603050405020304" pitchFamily="18" charset="0"/>
                </a:rPr>
                <a:t>Department of Physics, Indian Institute of Technology Jodhpur 342030</a:t>
              </a:r>
            </a:p>
            <a:p>
              <a:pPr algn="ctr">
                <a:spcBef>
                  <a:spcPct val="0"/>
                </a:spcBef>
              </a:pPr>
              <a:r>
                <a:rPr lang="en-US" sz="4000" i="1" baseline="30000" dirty="0">
                  <a:latin typeface="Times New Roman" panose="02020603050405020304" pitchFamily="18" charset="0"/>
                  <a:ea typeface="Roboto" panose="02000000000000000000" pitchFamily="2" charset="0"/>
                  <a:cs typeface="Times New Roman" panose="02020603050405020304" pitchFamily="18" charset="0"/>
                </a:rPr>
                <a:t>2</a:t>
              </a:r>
              <a:r>
                <a:rPr lang="en-US" sz="4000" i="1" dirty="0">
                  <a:latin typeface="Times New Roman" panose="02020603050405020304" pitchFamily="18" charset="0"/>
                  <a:ea typeface="Roboto" panose="02000000000000000000" pitchFamily="2" charset="0"/>
                  <a:cs typeface="Times New Roman" panose="02020603050405020304" pitchFamily="18" charset="0"/>
                </a:rPr>
                <a:t>Quantum Information and Computation (IDRP), Indian Institute of Technology Jodhpur 342030</a:t>
              </a:r>
            </a:p>
            <a:p>
              <a:pPr algn="ctr">
                <a:spcBef>
                  <a:spcPct val="0"/>
                </a:spcBef>
              </a:pPr>
              <a:endParaRPr lang="en-US" sz="4000" i="1" baseline="300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endParaRPr>
            </a:p>
            <a:p>
              <a:pPr algn="ctr">
                <a:spcBef>
                  <a:spcPct val="0"/>
                </a:spcBef>
              </a:pPr>
              <a:r>
                <a:rPr lang="en-IN" sz="40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en-US" sz="4000" i="1" dirty="0">
                  <a:latin typeface="Times New Roman" panose="02020603050405020304" pitchFamily="18" charset="0"/>
                  <a:ea typeface="Roboto" panose="02000000000000000000" pitchFamily="2" charset="0"/>
                  <a:cs typeface="Times New Roman" panose="02020603050405020304" pitchFamily="18" charset="0"/>
                </a:rPr>
                <a:t>b23ph1024@iitj.ac.in </a:t>
              </a:r>
              <a:r>
                <a:rPr lang="en-IN" sz="40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N" sz="4000" baseline="30000" dirty="0"/>
                <a:t>†</a:t>
              </a:r>
              <a:r>
                <a:rPr lang="en-US" sz="4000" i="1" dirty="0">
                  <a:latin typeface="Times New Roman" panose="02020603050405020304" pitchFamily="18" charset="0"/>
                  <a:ea typeface="Roboto" panose="02000000000000000000" pitchFamily="2" charset="0"/>
                  <a:cs typeface="Times New Roman" panose="02020603050405020304" pitchFamily="18" charset="0"/>
                </a:rPr>
                <a:t>tomis.1@iitj.ac.in</a:t>
              </a:r>
              <a:endParaRPr lang="en-US" sz="4000" i="1" baseline="30000" dirty="0"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DC455253-72B5-EE33-C3A8-2D00CF9DC9B1}"/>
              </a:ext>
            </a:extLst>
          </p:cNvPr>
          <p:cNvSpPr txBox="1"/>
          <p:nvPr/>
        </p:nvSpPr>
        <p:spPr>
          <a:xfrm>
            <a:off x="814173" y="10640599"/>
            <a:ext cx="287052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Spontaneous Parametric Down-Conversion (SPDC)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key method for generating entangled photon pairs for quantum communication, computation, and sensing.</a:t>
            </a: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Type-II SPDC: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pump photon splits into orthogonally polarized signal and idler photons inside a χ² nonlinear crystal.</a:t>
            </a: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photon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 rate and heralding efficiency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depend strongly on pump focusing, beam waists, crystal length, and phase-matching temperature.</a:t>
            </a: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PPKTP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preferred due to its high nonlinear coefficient, stability, and wide temperature-tuning range.</a:t>
            </a: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Precise modelling helps predict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focusing conditions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maximizing pair generation.</a:t>
            </a: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these dependencies is crucial for building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high-brightness, low-loss quantum light sources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4F5720C-A78B-9267-A979-B8B0227FE2AB}"/>
              </a:ext>
            </a:extLst>
          </p:cNvPr>
          <p:cNvSpPr txBox="1"/>
          <p:nvPr/>
        </p:nvSpPr>
        <p:spPr>
          <a:xfrm>
            <a:off x="699606" y="36091863"/>
            <a:ext cx="1226915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/>
              <a:t>Our approach shows that optimizing beam-waist focusing is the most effective way to enhance Type-II SPDC brightness in PPKTP. The identified optimal pump waist and QPM temperature provide practical guidelines for designing high-efficiency entangled-photon sources. These results highlight how careful parameter tuning can significantly improve photon pair rates and overall heralding performance.</a:t>
            </a:r>
            <a:endParaRPr lang="en-US" sz="3000" dirty="0">
              <a:solidFill>
                <a:prstClr val="black"/>
              </a:solidFill>
              <a:latin typeface="Times New Roman" panose="02020603050405020304" pitchFamily="18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105B2FF-D897-5FC4-FB41-AD16608D6914}"/>
              </a:ext>
            </a:extLst>
          </p:cNvPr>
          <p:cNvSpPr txBox="1"/>
          <p:nvPr/>
        </p:nvSpPr>
        <p:spPr>
          <a:xfrm>
            <a:off x="15579778" y="35857299"/>
            <a:ext cx="14105922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Lynden K. Shalm, Evan Meyer-Scott, Bradley G. Christensen, and et al. Strong loophole-free test of local realism. Phys. Rev. Lett., 115:250402, Dec 2015. </a:t>
            </a:r>
          </a:p>
          <a:p>
            <a:pPr marL="457200" indent="-457200"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Hensen and et al. Loophole-free bell inequality violation using electron spins separated by 1.3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kilometres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Nature, 526(7575):682–686, Oct 2015. </a:t>
            </a:r>
          </a:p>
          <a:p>
            <a:pPr marL="457200" indent="-457200"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Emanueli and A. Arie, “Temperature-dependent dispersion equations for KTiOPO4 and TiOAsO4,” Applied Optics, vol. 42, no. 33, pp. 6661–6665, 2003. </a:t>
            </a:r>
          </a:p>
          <a:p>
            <a:pPr marL="457200" indent="-457200">
              <a:buAutoNum type="arabicPeriod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Fradkin, A. Arie, A. </a:t>
            </a:r>
            <a:r>
              <a:rPr lang="en-IN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Skliar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G. Rosenman, “</a:t>
            </a:r>
            <a:r>
              <a:rPr lang="en-IN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Tunable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midinfrared source by difference frequency generation in bulk periodically poled KTiOPO4,” Applied Physics Letters, vol. 74, no. 7, pp. 914–916, 1999. </a:t>
            </a:r>
          </a:p>
          <a:p>
            <a:pPr marL="457200" indent="-457200"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Kato and E. Takaoka, “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Sellmeier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thermo-optic dispersion formulas for KTP,” Applied Optics, vol. 41, no. 24, pp. 5040–5044, 2002. </a:t>
            </a:r>
          </a:p>
          <a:p>
            <a:pPr marL="457200" indent="-457200"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Andrew Rockovich, Daniel Gauthier, and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Shu’an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Wang, “Maximizing the Purity and Heralding Efficiency of Down-Converted Photons Using Beam Focal Parameters,”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arXiv:2312.06663, 2023.</a:t>
            </a:r>
            <a:endParaRPr lang="en-US" sz="3000" dirty="0">
              <a:solidFill>
                <a:prstClr val="black"/>
              </a:solidFill>
              <a:latin typeface="Times New Roman" panose="02020603050405020304" pitchFamily="18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7F1F8F8-8894-5DDC-6F87-D28816E72340}"/>
              </a:ext>
            </a:extLst>
          </p:cNvPr>
          <p:cNvSpPr txBox="1"/>
          <p:nvPr/>
        </p:nvSpPr>
        <p:spPr>
          <a:xfrm>
            <a:off x="6640286" y="32247962"/>
            <a:ext cx="229775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approach predicts a QPM temperature of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40.66 °C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degenerate Type-II SPDC in PPKTP. The optimal pump waist of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119.22 µm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yields a maximum brightness of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2595.60 pairs/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s.mW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beam-waist matching playing the most significant role in enhancing pair generation. Crystal length and pump power further increase the rate but with diminishing returns due to spatial-overlap limits.</a:t>
            </a:r>
          </a:p>
        </p:txBody>
      </p:sp>
      <p:pic>
        <p:nvPicPr>
          <p:cNvPr id="5" name="Picture 5" descr="Picture 5">
            <a:extLst>
              <a:ext uri="{FF2B5EF4-FFF2-40B4-BE49-F238E27FC236}">
                <a16:creationId xmlns:a16="http://schemas.microsoft.com/office/drawing/2014/main" id="{A6F41C7E-A91E-F41D-5667-48AFAF14B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7301" y="2603665"/>
            <a:ext cx="6065872" cy="6065871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3276A9-709B-3164-CD5C-A491F675E46D}"/>
              </a:ext>
            </a:extLst>
          </p:cNvPr>
          <p:cNvSpPr txBox="1"/>
          <p:nvPr/>
        </p:nvSpPr>
        <p:spPr>
          <a:xfrm>
            <a:off x="-43541" y="138115"/>
            <a:ext cx="3030764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Spontaneous Parametric Down Conversion (SPDC): Maximizing Photon Pair Rate for Type – II SPDC with </a:t>
            </a:r>
          </a:p>
          <a:p>
            <a:pPr algn="ctr"/>
            <a:r>
              <a:rPr lang="en-IN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PPKTP Crystal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B9754D5-EC59-B2F8-641E-365FD94E8F19}"/>
              </a:ext>
            </a:extLst>
          </p:cNvPr>
          <p:cNvSpPr/>
          <p:nvPr/>
        </p:nvSpPr>
        <p:spPr>
          <a:xfrm>
            <a:off x="699605" y="8864600"/>
            <a:ext cx="28983554" cy="1604569"/>
          </a:xfrm>
          <a:prstGeom prst="roundRect">
            <a:avLst/>
          </a:prstGeom>
          <a:solidFill>
            <a:srgbClr val="000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34FFBD9A-70F6-C7CA-45BB-6140AB36364F}"/>
              </a:ext>
            </a:extLst>
          </p:cNvPr>
          <p:cNvSpPr/>
          <p:nvPr/>
        </p:nvSpPr>
        <p:spPr>
          <a:xfrm>
            <a:off x="699605" y="13786788"/>
            <a:ext cx="28983553" cy="1604569"/>
          </a:xfrm>
          <a:prstGeom prst="roundRect">
            <a:avLst/>
          </a:prstGeom>
          <a:solidFill>
            <a:srgbClr val="000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IN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B6A9C8F3-D980-37C4-B553-EC979FF885F1}"/>
              </a:ext>
            </a:extLst>
          </p:cNvPr>
          <p:cNvSpPr/>
          <p:nvPr/>
        </p:nvSpPr>
        <p:spPr>
          <a:xfrm>
            <a:off x="814173" y="25842964"/>
            <a:ext cx="28868985" cy="1604569"/>
          </a:xfrm>
          <a:prstGeom prst="roundRect">
            <a:avLst/>
          </a:prstGeom>
          <a:solidFill>
            <a:srgbClr val="000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  <a:r>
              <a:rPr lang="en-IN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EEF23E3E-55EE-E58D-0BCC-7B4A4349D474}"/>
              </a:ext>
            </a:extLst>
          </p:cNvPr>
          <p:cNvSpPr/>
          <p:nvPr/>
        </p:nvSpPr>
        <p:spPr>
          <a:xfrm>
            <a:off x="814173" y="34191016"/>
            <a:ext cx="14016614" cy="1604569"/>
          </a:xfrm>
          <a:prstGeom prst="roundRect">
            <a:avLst/>
          </a:prstGeom>
          <a:solidFill>
            <a:srgbClr val="000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IN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1F836633-D56A-82CA-4E2E-291B9562E3D5}"/>
              </a:ext>
            </a:extLst>
          </p:cNvPr>
          <p:cNvSpPr/>
          <p:nvPr/>
        </p:nvSpPr>
        <p:spPr>
          <a:xfrm>
            <a:off x="15666545" y="34156051"/>
            <a:ext cx="14016614" cy="1604569"/>
          </a:xfrm>
          <a:prstGeom prst="roundRect">
            <a:avLst/>
          </a:prstGeom>
          <a:solidFill>
            <a:srgbClr val="0000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IN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27DC8F9-2C57-C2E0-953C-9C8A10069A1C}"/>
              </a:ext>
            </a:extLst>
          </p:cNvPr>
          <p:cNvSpPr/>
          <p:nvPr/>
        </p:nvSpPr>
        <p:spPr>
          <a:xfrm>
            <a:off x="417573" y="8642723"/>
            <a:ext cx="29428954" cy="3375499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 descr="A diagram of a diagram of a cross&#10;&#10;AI-generated content may be incorrect.">
            <a:extLst>
              <a:ext uri="{FF2B5EF4-FFF2-40B4-BE49-F238E27FC236}">
                <a16:creationId xmlns:a16="http://schemas.microsoft.com/office/drawing/2014/main" id="{13CCBDA5-9748-6DAA-6A16-E1D488B14A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67" t="4533" r="23160" b="3545"/>
          <a:stretch>
            <a:fillRect/>
          </a:stretch>
        </p:blipFill>
        <p:spPr>
          <a:xfrm>
            <a:off x="22668804" y="15520581"/>
            <a:ext cx="6948992" cy="55471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83055D-3911-AD59-C290-49DD00A87174}"/>
                  </a:ext>
                </a:extLst>
              </p:cNvPr>
              <p:cNvSpPr txBox="1"/>
              <p:nvPr/>
            </p:nvSpPr>
            <p:spPr>
              <a:xfrm>
                <a:off x="814173" y="15593178"/>
                <a:ext cx="14016614" cy="101121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0" indent="-45720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Type-II SPDC: </a:t>
                </a:r>
                <a:r>
                  <a:rPr lang="en-US" sz="3200" b="1" dirty="0"/>
                  <a:t>The approach</a:t>
                </a:r>
                <a:r>
                  <a:rPr lang="en-US" sz="3200" dirty="0"/>
                  <a:t> employed in this work relies on photon-pair generation in a PPKTP crystal via the standard χ² nonlinear interaction, subject to energy and momentum conservation</a:t>
                </a: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lvl="0"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3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3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IN" sz="3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 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en-GB" sz="30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Ks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cos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θs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 + 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Ki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cos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θi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 + 2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π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Λ</m:t>
                    </m:r>
                  </m:oMath>
                </a14:m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 (ii)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GB" sz="30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GB" sz="30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GB" sz="3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 </a:t>
                </a:r>
                <a:r>
                  <a:rPr lang="en-GB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GB" sz="30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GB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I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indent="-45720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Refractive Index Calculation: </a:t>
                </a: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Temperature-dependent </a:t>
                </a:r>
                <a:r>
                  <a:rPr lang="en-US" altLang="en-US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Sellmeier</a:t>
                </a: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equations (Kato–Takaoka &amp; Emanueli–Arie) are used to compute refractive indices.</a:t>
                </a:r>
              </a:p>
              <a:p>
                <a:pPr lvl="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indent="-45720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Quasi-Phase Matching (QPM): </a:t>
                </a: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QPM temperature is obtained by solving</a:t>
                </a:r>
              </a:p>
              <a:p>
                <a:pPr lvl="0"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3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  <m:r>
                      <a:rPr lang="en-IN" sz="3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𝐾</m:t>
                    </m:r>
                    <m:d>
                      <m:dPr>
                        <m:ctrlPr>
                          <a:rPr lang="en-IN" sz="3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IN" sz="3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</m:d>
                    <m:r>
                      <a:rPr lang="en-IN" sz="3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en-GB" sz="30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3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− 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en-GB" sz="30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cos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θs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 </m:t>
                    </m:r>
                    <m:r>
                      <m:rPr>
                        <m:nor/>
                      </m:rPr>
                      <a:rPr lang="en-IN" sz="3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Ki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cos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θi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 </m:t>
                    </m:r>
                    <m:r>
                      <m:rPr>
                        <m:nor/>
                      </m:rPr>
                      <a:rPr lang="en-IN" sz="3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2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π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GB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Λ</m:t>
                    </m:r>
                    <m:r>
                      <m:rPr>
                        <m:nor/>
                      </m:rPr>
                      <a:rPr lang="en-IN" sz="30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= 0</m:t>
                    </m:r>
                  </m:oMath>
                </a14:m>
                <a:r>
                  <a:rPr lang="en-IN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lvl="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3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IN" sz="30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j</m:t>
                      </m:r>
                      <m:r>
                        <a:rPr lang="en-IN" sz="3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2</m:t>
                      </m:r>
                      <m:r>
                        <m:rPr>
                          <m:sty m:val="p"/>
                        </m:rPr>
                        <a:rPr lang="en-IN" sz="3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π</m:t>
                      </m:r>
                      <m:r>
                        <a:rPr lang="en-IN" sz="3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3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nj</m:t>
                      </m:r>
                      <m:r>
                        <a:rPr lang="en-IN" sz="3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3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T</m:t>
                      </m:r>
                      <m:r>
                        <a:rPr lang="en-IN" sz="3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)/</m:t>
                      </m:r>
                      <m:r>
                        <m:rPr>
                          <m:sty m:val="p"/>
                        </m:rPr>
                        <a:rPr lang="en-IN" sz="3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.</m:t>
                      </m:r>
                    </m:oMath>
                  </m:oMathPara>
                </a14:m>
                <a:endParaRPr lang="en-IN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IN" sz="3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indent="-45720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Joint Spectral Amplitude (JSA): </a:t>
                </a: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biphoton state is modelled using</a:t>
                </a:r>
              </a:p>
              <a:p>
                <a:pPr lvl="0"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30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Φ</m:t>
                    </m:r>
                    <m:r>
                      <a:rPr lang="en-US" altLang="en-US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30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𝜔</m:t>
                    </m:r>
                    <m:r>
                      <a:rPr lang="en-US" altLang="en-US" sz="3000" i="1" baseline="-25000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en-US" sz="30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en-US" sz="30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𝜔</m:t>
                    </m:r>
                    <m:r>
                      <a:rPr lang="en-US" altLang="en-US" sz="3000" i="1" baseline="-25000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en-US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en-US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altLang="en-US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30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𝜔</m:t>
                    </m:r>
                    <m:r>
                      <a:rPr lang="en-US" altLang="en-US" sz="3000" i="1" baseline="-25000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en-US" sz="30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en-US" sz="30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𝜔</m:t>
                    </m:r>
                    <m:r>
                      <a:rPr lang="en-US" altLang="en-US" sz="3000" i="1" baseline="-25000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en-US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 </m:t>
                    </m:r>
                    <m:r>
                      <a:rPr lang="en-US" altLang="en-US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𝜙</m:t>
                    </m:r>
                    <m:r>
                      <a:rPr lang="en-US" altLang="en-US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30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𝜔</m:t>
                    </m:r>
                    <m:r>
                      <a:rPr lang="en-US" altLang="en-US" sz="3000" i="1" baseline="-25000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en-US" sz="30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en-US" sz="30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𝜔</m:t>
                    </m:r>
                    <m:r>
                      <a:rPr lang="en-US" altLang="en-US" sz="3000" i="1" baseline="-25000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en-US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lvl="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where </a:t>
                </a:r>
                <a:r>
                  <a:rPr lang="en-US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pump envelope and </a:t>
                </a:r>
                <a:r>
                  <a:rPr lang="en-US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φ</a:t>
                </a: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phase-matching function.</a:t>
                </a:r>
              </a:p>
              <a:p>
                <a:pPr lvl="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indent="-45720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Pair-Production Rate:</a:t>
                </a:r>
                <a:endParaRPr lang="en-US" altLang="en-US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0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sz="3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3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3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000">
                                  <a:latin typeface="Cambria Math" panose="020405030504060302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GB" sz="3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000">
                                  <a:latin typeface="Cambria Math" panose="020405030504060302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GB" sz="3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3000" i="1">
                              <a:latin typeface="Cambria Math" panose="02040503050406030204" pitchFamily="18" charset="0"/>
                            </a:rPr>
                            <m:t>𝑃</m:t>
                          </m:r>
                          <m:sSubSup>
                            <m:sSubSupPr>
                              <m:ctrlPr>
                                <a:rPr lang="en-IN" sz="3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sz="3000" i="1">
                                  <a:latin typeface="Cambria Math" panose="02040503050406030204" pitchFamily="18" charset="0"/>
                                </a:rPr>
                                <m:t>𝑒𝑓𝑓</m:t>
                              </m:r>
                            </m:sub>
                            <m:sup>
                              <m:r>
                                <a:rPr lang="en-GB" sz="3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IN" sz="3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0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GB" sz="3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00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GB" sz="3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3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3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sSup>
                            <m:sSupPr>
                              <m:ctrlPr>
                                <a:rPr lang="en-IN" sz="3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3000"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  <m:sup>
                              <m:r>
                                <a:rPr lang="en-GB" sz="3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lit/>
                                </m:rPr>
                                <a:rPr lang="en-GB" sz="3000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GB" sz="3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IN" sz="3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3000">
                                  <a:latin typeface="Cambria Math" panose="02040503050406030204" pitchFamily="18" charset="0"/>
                                </a:rPr>
                                <m:t>ϵ</m:t>
                              </m:r>
                            </m:e>
                            <m:sub>
                              <m:r>
                                <a:rPr lang="en-GB" sz="3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IN" sz="3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GB" sz="3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IN" sz="3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GB" sz="3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GB" sz="3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GB" sz="3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3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0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GB" sz="3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IN" sz="3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3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300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GB" sz="300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IN" sz="3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GB" sz="3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3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3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300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GB" sz="3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  <m:nary>
                            <m:naryPr>
                              <m:ctrlPr>
                                <a:rPr lang="en-IN" sz="3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GB" sz="3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30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GB" sz="30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IN" sz="3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0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GB" sz="3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IN" sz="3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3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30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GB" sz="30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r>
                                    <a:rPr lang="en-GB" sz="3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3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300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  <m:sub>
                                      <m:r>
                                        <a:rPr lang="en-GB" sz="30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e>
                              </m:d>
                              <m:sSup>
                                <m:sSupPr>
                                  <m:ctrlPr>
                                    <a:rPr lang="en-IN" sz="3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IN" sz="3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3000">
                                          <a:latin typeface="Cambria Math" panose="02040503050406030204" pitchFamily="18" charset="0"/>
                                        </a:rPr>
                                        <m:t>Φ</m:t>
                                      </m:r>
                                      <m:d>
                                        <m:dPr>
                                          <m:ctrlPr>
                                            <a:rPr lang="en-IN" sz="3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sz="3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GB" sz="3000">
                                                  <a:latin typeface="Cambria Math" panose="02040503050406030204" pitchFamily="18" charset="0"/>
                                                </a:rPr>
                                                <m:t>ω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3000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sub>
                                          </m:sSub>
                                          <m:r>
                                            <a:rPr lang="en-GB" sz="30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IN" sz="3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GB" sz="3000">
                                                  <a:latin typeface="Cambria Math" panose="02040503050406030204" pitchFamily="18" charset="0"/>
                                                </a:rPr>
                                                <m:t>ω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30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GB" sz="3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3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IN" sz="3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300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GB" sz="3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GB" sz="3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IN" sz="3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300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GB" sz="30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en-US" sz="30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en-US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Beam focusing parameters (pump, signal, idler waists) enter through the spatial-mode  </a:t>
                </a:r>
              </a:p>
              <a:p>
                <a:pPr lvl="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overlap.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83055D-3911-AD59-C290-49DD00A87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173" y="15593178"/>
                <a:ext cx="14016614" cy="10112192"/>
              </a:xfrm>
              <a:prstGeom prst="rect">
                <a:avLst/>
              </a:prstGeom>
              <a:blipFill>
                <a:blip r:embed="rId5"/>
                <a:stretch>
                  <a:fillRect l="-913" t="-723" r="-1087" b="-9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8B48450-EBDC-A6CE-13D0-BB405A0BF79E}"/>
                  </a:ext>
                </a:extLst>
              </p:cNvPr>
              <p:cNvSpPr txBox="1"/>
              <p:nvPr/>
            </p:nvSpPr>
            <p:spPr>
              <a:xfrm>
                <a:off x="15433314" y="21230527"/>
                <a:ext cx="14086135" cy="47089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lvl="0" indent="-45720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Focusing Conditions: </a:t>
                </a: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Pump waist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3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altLang="en-US" sz="3000" b="0" i="1" baseline="-250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</m:oMath>
                </a14:m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collection waists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altLang="en-US" sz="3000" b="0" i="1" baseline="-250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</m:t>
                    </m:r>
                  </m:oMath>
                </a14:m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altLang="en-US" sz="3000" b="0" i="1" baseline="-250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i</m:t>
                    </m:r>
                    <m:r>
                      <a:rPr lang="en-IN" altLang="en-US" sz="30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are varied to study their effect on brightness and heralding efficiency.</a:t>
                </a:r>
              </a:p>
              <a:p>
                <a:pPr marL="457200" lvl="0" indent="-45720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endParaRPr lang="en-US" altLang="en-US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indent="-45720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Negligible Walk-Off: </a:t>
                </a: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small non-collinear angles (≤3°), spatial walk-off and Poynting-vector tilt are ignored (consistent with both reference papers).</a:t>
                </a:r>
              </a:p>
              <a:p>
                <a:pPr marL="457200" lvl="0" indent="-45720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endParaRPr lang="en-US" altLang="en-US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indent="-45720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Numerical Evaluation: </a:t>
                </a:r>
              </a:p>
              <a:p>
                <a:pPr marL="914400" lvl="1" indent="-45720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3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altLang="en-US" sz="3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k</m:t>
                    </m:r>
                  </m:oMath>
                </a14:m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JSA, and pair rate over wavelength grids.</a:t>
                </a:r>
              </a:p>
              <a:p>
                <a:pPr marL="914400" lvl="1" indent="-45720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Wingdings" panose="05000000000000000000" pitchFamily="2" charset="2"/>
                  <a:buChar char="§"/>
                </a:pP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Sweep </a:t>
                </a:r>
                <a:r>
                  <a:rPr lang="en-US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beam waists</a:t>
                </a: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crystal length</a:t>
                </a: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:r>
                  <a:rPr lang="en-US" altLang="en-U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pump power</a:t>
                </a:r>
                <a:r>
                  <a:rPr lang="en-US" altLang="en-U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determine optimal values.</a:t>
                </a:r>
              </a:p>
              <a:p>
                <a:pPr lvl="0" algn="just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8B48450-EBDC-A6CE-13D0-BB405A0BF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3314" y="21230527"/>
                <a:ext cx="14086135" cy="4708981"/>
              </a:xfrm>
              <a:prstGeom prst="rect">
                <a:avLst/>
              </a:prstGeom>
              <a:blipFill>
                <a:blip r:embed="rId6"/>
                <a:stretch>
                  <a:fillRect l="-909" t="-1684" r="-9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Picture 27" descr="A diagram of a triangle with a red line and blue arrows&#10;&#10;AI-generated content may be incorrect.">
            <a:extLst>
              <a:ext uri="{FF2B5EF4-FFF2-40B4-BE49-F238E27FC236}">
                <a16:creationId xmlns:a16="http://schemas.microsoft.com/office/drawing/2014/main" id="{185D830E-280A-A04F-F500-9E6ACEECFA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41" t="19244" r="28794" b="20501"/>
          <a:stretch>
            <a:fillRect/>
          </a:stretch>
        </p:blipFill>
        <p:spPr>
          <a:xfrm>
            <a:off x="15022116" y="16569468"/>
            <a:ext cx="7563563" cy="3952063"/>
          </a:xfrm>
          <a:prstGeom prst="rect">
            <a:avLst/>
          </a:prstGeom>
        </p:spPr>
      </p:pic>
      <p:pic>
        <p:nvPicPr>
          <p:cNvPr id="46" name="Picture 45" descr="A diagram of a graph&#10;&#10;AI-generated content may be incorrect.">
            <a:extLst>
              <a:ext uri="{FF2B5EF4-FFF2-40B4-BE49-F238E27FC236}">
                <a16:creationId xmlns:a16="http://schemas.microsoft.com/office/drawing/2014/main" id="{90D0EB58-D690-A4FB-1D01-35E523880C7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38" y="28191151"/>
            <a:ext cx="5563388" cy="556338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C28EFC5-8AC3-7304-C34A-D4D9C6BA743A}"/>
              </a:ext>
            </a:extLst>
          </p:cNvPr>
          <p:cNvGrpSpPr/>
          <p:nvPr/>
        </p:nvGrpSpPr>
        <p:grpSpPr>
          <a:xfrm>
            <a:off x="6093249" y="27907559"/>
            <a:ext cx="23589909" cy="3985708"/>
            <a:chOff x="6093249" y="27475301"/>
            <a:chExt cx="23589909" cy="3985708"/>
          </a:xfrm>
        </p:grpSpPr>
        <p:pic>
          <p:nvPicPr>
            <p:cNvPr id="30" name="Picture 29" descr="A graph of a graph showing a line&#10;&#10;AI-generated content may be incorrect.">
              <a:extLst>
                <a:ext uri="{FF2B5EF4-FFF2-40B4-BE49-F238E27FC236}">
                  <a16:creationId xmlns:a16="http://schemas.microsoft.com/office/drawing/2014/main" id="{499627CE-9B31-C73B-26F6-9C5A9E04B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34147" y="27475301"/>
              <a:ext cx="5978563" cy="3985708"/>
            </a:xfrm>
            <a:prstGeom prst="rect">
              <a:avLst/>
            </a:prstGeom>
          </p:spPr>
        </p:pic>
        <p:pic>
          <p:nvPicPr>
            <p:cNvPr id="37" name="Picture 36" descr="A graph of a graph&#10;&#10;AI-generated content may be incorrect.">
              <a:extLst>
                <a:ext uri="{FF2B5EF4-FFF2-40B4-BE49-F238E27FC236}">
                  <a16:creationId xmlns:a16="http://schemas.microsoft.com/office/drawing/2014/main" id="{E3166663-23C1-4A79-38DD-3D5ADBBCA4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3249" y="27475301"/>
              <a:ext cx="5978563" cy="3985708"/>
            </a:xfrm>
            <a:prstGeom prst="rect">
              <a:avLst/>
            </a:prstGeom>
          </p:spPr>
        </p:pic>
        <p:pic>
          <p:nvPicPr>
            <p:cNvPr id="39" name="Picture 38" descr="A graph with a blue line&#10;&#10;AI-generated content may be incorrect.">
              <a:extLst>
                <a:ext uri="{FF2B5EF4-FFF2-40B4-BE49-F238E27FC236}">
                  <a16:creationId xmlns:a16="http://schemas.microsoft.com/office/drawing/2014/main" id="{5E8C26E3-8269-0565-89EC-2F17711C52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63698" y="27475301"/>
              <a:ext cx="5978563" cy="3985708"/>
            </a:xfrm>
            <a:prstGeom prst="rect">
              <a:avLst/>
            </a:prstGeom>
          </p:spPr>
        </p:pic>
        <p:pic>
          <p:nvPicPr>
            <p:cNvPr id="63" name="Picture 62" descr="A graph of a graph with a line&#10;&#10;AI-generated content may be incorrect.">
              <a:extLst>
                <a:ext uri="{FF2B5EF4-FFF2-40B4-BE49-F238E27FC236}">
                  <a16:creationId xmlns:a16="http://schemas.microsoft.com/office/drawing/2014/main" id="{417BD168-E2B4-E9A0-C286-622F8EEDCA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04595" y="27475301"/>
              <a:ext cx="5978563" cy="3985708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FB7CA51-AB7F-867E-D171-87690E7EC487}"/>
              </a:ext>
            </a:extLst>
          </p:cNvPr>
          <p:cNvGrpSpPr/>
          <p:nvPr/>
        </p:nvGrpSpPr>
        <p:grpSpPr>
          <a:xfrm>
            <a:off x="595025" y="39981322"/>
            <a:ext cx="12244416" cy="2012529"/>
            <a:chOff x="610973" y="38126882"/>
            <a:chExt cx="12244416" cy="201252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F4AF73B-6F25-9E7D-4A3F-AEA6F227DF15}"/>
                </a:ext>
              </a:extLst>
            </p:cNvPr>
            <p:cNvSpPr txBox="1"/>
            <p:nvPr/>
          </p:nvSpPr>
          <p:spPr>
            <a:xfrm>
              <a:off x="789263" y="38175284"/>
              <a:ext cx="12066126" cy="1964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577" b="1" dirty="0">
                  <a:latin typeface="Times New Roman" panose="02020603050405020304" pitchFamily="18" charset="0"/>
                  <a:ea typeface="Roboto" panose="02000000000000000000" pitchFamily="2" charset="0"/>
                  <a:cs typeface="Times New Roman" panose="02020603050405020304" pitchFamily="18" charset="0"/>
                </a:rPr>
                <a:t>ACKNOWLEDGEMENT</a:t>
              </a:r>
            </a:p>
            <a:p>
              <a:pPr algn="ctr"/>
              <a:r>
                <a:rPr lang="en-US" sz="2862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VN wants to acknowledge the DST grant no. DST/ICPS/</a:t>
              </a:r>
              <a:r>
                <a:rPr lang="en-US" sz="2862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QueST</a:t>
              </a:r>
              <a:r>
                <a:rPr lang="en-US" sz="2862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/Theme-1/2019/6 for the research funding. Tomis wants to acknowledge CSIR for the research support.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78D2B72-7247-E1A8-27A2-EAAD3059F4FB}"/>
                </a:ext>
              </a:extLst>
            </p:cNvPr>
            <p:cNvSpPr/>
            <p:nvPr/>
          </p:nvSpPr>
          <p:spPr>
            <a:xfrm>
              <a:off x="610973" y="38126882"/>
              <a:ext cx="12244416" cy="1944591"/>
            </a:xfrm>
            <a:prstGeom prst="rect">
              <a:avLst/>
            </a:prstGeom>
            <a:noFill/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3195376-2BD5-38C4-646C-250002CF5BAB}"/>
              </a:ext>
            </a:extLst>
          </p:cNvPr>
          <p:cNvGrpSpPr/>
          <p:nvPr/>
        </p:nvGrpSpPr>
        <p:grpSpPr>
          <a:xfrm>
            <a:off x="13395594" y="37286088"/>
            <a:ext cx="1844858" cy="4461701"/>
            <a:chOff x="13295843" y="37568719"/>
            <a:chExt cx="1844858" cy="4461701"/>
          </a:xfrm>
        </p:grpSpPr>
        <p:pic>
          <p:nvPicPr>
            <p:cNvPr id="98" name="Picture 5" descr="Isolated Linkedin Logo. Vector Illustration. Linkedin Icon ...">
              <a:extLst>
                <a:ext uri="{FF2B5EF4-FFF2-40B4-BE49-F238E27FC236}">
                  <a16:creationId xmlns:a16="http://schemas.microsoft.com/office/drawing/2014/main" id="{13DB89CC-62AE-361C-C18B-0C239272EC2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17" t="26985" r="26484" b="27073"/>
            <a:stretch/>
          </p:blipFill>
          <p:spPr bwMode="auto">
            <a:xfrm>
              <a:off x="13841159" y="39484046"/>
              <a:ext cx="754226" cy="7451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9DC5F013-B3ED-24A5-C158-380A25BBA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3343385" y="40299699"/>
              <a:ext cx="1749775" cy="1730721"/>
            </a:xfrm>
            <a:prstGeom prst="rect">
              <a:avLst/>
            </a:prstGeom>
          </p:spPr>
        </p:pic>
        <p:pic>
          <p:nvPicPr>
            <p:cNvPr id="6" name="Picture 5" descr="A qr code with black squares&#10;&#10;AI-generated content may be incorrect.">
              <a:extLst>
                <a:ext uri="{FF2B5EF4-FFF2-40B4-BE49-F238E27FC236}">
                  <a16:creationId xmlns:a16="http://schemas.microsoft.com/office/drawing/2014/main" id="{9B2949A6-745A-39C0-24F3-81ABEC3A53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3295843" y="37568719"/>
              <a:ext cx="1844858" cy="1844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91735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2740</TotalTime>
  <Words>847</Words>
  <Application>Microsoft Office PowerPoint</Application>
  <PresentationFormat>Custom</PresentationFormat>
  <Paragraphs>53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Times New Roman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Shreyansh Agarwal</dc:creator>
  <cp:lastModifiedBy>Shreyansh Agarwal</cp:lastModifiedBy>
  <cp:revision>20</cp:revision>
  <dcterms:created xsi:type="dcterms:W3CDTF">2025-10-12T05:39:41Z</dcterms:created>
  <dcterms:modified xsi:type="dcterms:W3CDTF">2025-12-06T10:12:00Z</dcterms:modified>
</cp:coreProperties>
</file>